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-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118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my_required_coverage</c:v>
                </c:pt>
                <c:pt idx="1">
                  <c:v>num_required_missing</c:v>
                </c:pt>
                <c:pt idx="2">
                  <c:v>num_required_matched</c:v>
                </c:pt>
                <c:pt idx="3">
                  <c:v>my_preferred_coverage</c:v>
                </c:pt>
                <c:pt idx="4">
                  <c:v>experience_gap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0.2477</c:v>
                </c:pt>
                <c:pt idx="1">
                  <c:v>0.18870000000000001</c:v>
                </c:pt>
                <c:pt idx="2">
                  <c:v>0.17730000000000001</c:v>
                </c:pt>
                <c:pt idx="3">
                  <c:v>9.5299999999999996E-2</c:v>
                </c:pt>
                <c:pt idx="4">
                  <c:v>8.1000000000000003E-2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E1-4856-9381-77F393D66E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11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27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1.png"/><Relationship Id="rId4" Type="http://schemas.openxmlformats.org/officeDocument/2006/relationships/image" Target="../media/image17.pn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0E2E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0E2E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960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ARTIFICIAL INTELLIGENCE  •  NLP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17320"/>
            <a:ext cx="8961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CV Screening and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Matching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37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Natural Language Processing to compare candidate CVs against job descriptions and support recruiter decision-making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46920" y="1280160"/>
            <a:ext cx="1828800" cy="1828800"/>
          </a:xfrm>
          <a:prstGeom prst="ellipse">
            <a:avLst/>
          </a:prstGeom>
          <a:solidFill>
            <a:srgbClr val="12386B"/>
          </a:solidFill>
          <a:ln/>
        </p:spPr>
      </p:sp>
      <p:pic>
        <p:nvPicPr>
          <p:cNvPr id="8" name="Image 0" descr="/home/claude/pptx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73736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4160520"/>
            <a:ext cx="4892040" cy="502920"/>
          </a:xfrm>
          <a:prstGeom prst="roundRect">
            <a:avLst>
              <a:gd name="adj" fmla="val 50909"/>
            </a:avLst>
          </a:prstGeom>
          <a:solidFill>
            <a:srgbClr val="00B4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41605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APP:  </a:t>
            </a: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https://gab-hirely.streamlit.app/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" y="4983480"/>
            <a:ext cx="5852160" cy="0"/>
          </a:xfrm>
          <a:prstGeom prst="line">
            <a:avLst/>
          </a:prstGeom>
          <a:noFill/>
          <a:ln w="12700">
            <a:solidFill>
              <a:srgbClr val="2A4A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5138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GABRIEL PETER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458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 No: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23/SC/CO/008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897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•  University of Uyo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(IT) Project Presentation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200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30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AI &amp; ML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pptx/icons/brai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912364"/>
            <a:ext cx="301752" cy="3017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28437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ptx/icons/chi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" y="37810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37124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 &amp; Its Types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914400" y="4526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pptx/icons/languag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" y="464972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45920" y="45811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NLP? Key Vocabulary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263640" y="1600200"/>
            <a:ext cx="5394960" cy="4572000"/>
          </a:xfrm>
          <a:prstGeom prst="roundRect">
            <a:avLst>
              <a:gd name="adj" fmla="val 1200"/>
            </a:avLst>
          </a:prstGeom>
          <a:solidFill>
            <a:srgbClr val="0B254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6294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629400" y="2130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 Depth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629400" y="2697480"/>
            <a:ext cx="502920" cy="502920"/>
          </a:xfrm>
          <a:prstGeom prst="ellipse">
            <a:avLst/>
          </a:prstGeom>
          <a:solidFill>
            <a:srgbClr val="12386B"/>
          </a:solidFill>
          <a:ln/>
        </p:spPr>
      </p:sp>
      <p:pic>
        <p:nvPicPr>
          <p:cNvPr id="20" name="Image 3" descr="/home/claude/pptx/icon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557" y="281063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27249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Dataset &amp; Pipeline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629400" y="3355848"/>
            <a:ext cx="502920" cy="502920"/>
          </a:xfrm>
          <a:prstGeom prst="ellipse">
            <a:avLst/>
          </a:prstGeom>
          <a:solidFill>
            <a:srgbClr val="12386B"/>
          </a:solidFill>
          <a:ln/>
        </p:spPr>
      </p:sp>
      <p:pic>
        <p:nvPicPr>
          <p:cNvPr id="23" name="Image 4" descr="/home/claude/pptx/icons/cog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2557" y="3469005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15200" y="3383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Modelling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6629400" y="4014216"/>
            <a:ext cx="502920" cy="502920"/>
          </a:xfrm>
          <a:prstGeom prst="ellipse">
            <a:avLst/>
          </a:prstGeom>
          <a:solidFill>
            <a:srgbClr val="12386B"/>
          </a:solidFill>
          <a:ln/>
        </p:spPr>
      </p:sp>
      <p:pic>
        <p:nvPicPr>
          <p:cNvPr id="26" name="Image 5" descr="/home/claude/pptx/icons/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2557" y="4127373"/>
            <a:ext cx="276606" cy="27660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15200" y="40416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Live Demo &amp; Interface</a:t>
            </a:r>
            <a:endParaRPr lang="en-US" sz="1450" dirty="0"/>
          </a:p>
        </p:txBody>
      </p:sp>
      <p:sp>
        <p:nvSpPr>
          <p:cNvPr id="28" name="Shape 20"/>
          <p:cNvSpPr/>
          <p:nvPr/>
        </p:nvSpPr>
        <p:spPr>
          <a:xfrm>
            <a:off x="6629400" y="4672584"/>
            <a:ext cx="502920" cy="502920"/>
          </a:xfrm>
          <a:prstGeom prst="ellipse">
            <a:avLst/>
          </a:prstGeom>
          <a:solidFill>
            <a:srgbClr val="12386B"/>
          </a:solidFill>
          <a:ln/>
        </p:spPr>
      </p:sp>
      <p:pic>
        <p:nvPicPr>
          <p:cNvPr id="29" name="Image 6" descr="/home/claude/pptx/icons/ethic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2557" y="4785741"/>
            <a:ext cx="276606" cy="27660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315200" y="470001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Conclusion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4663440"/>
          </a:xfrm>
          <a:prstGeom prst="roundRect">
            <a:avLst>
              <a:gd name="adj" fmla="val 1176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12386B"/>
          </a:solidFill>
          <a:ln/>
        </p:spPr>
      </p:sp>
      <p:pic>
        <p:nvPicPr>
          <p:cNvPr id="6" name="Image 0" descr="/home/claude/pptx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" y="20139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546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 is the broad field of computer science focused on building machines and systems that can perform tasks which would normally require human intelligence — understanding language, recognizing patterns, reasoning, and making decisions.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257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Natural Language Processing — the two techniques used in this project — are both sub-fields of AI.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Everyday Life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2103120"/>
            <a:ext cx="2651760" cy="164592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/>
        </p:spPr>
      </p:sp>
      <p:sp>
        <p:nvSpPr>
          <p:cNvPr id="12" name="Shape 9"/>
          <p:cNvSpPr/>
          <p:nvPr/>
        </p:nvSpPr>
        <p:spPr>
          <a:xfrm>
            <a:off x="635508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pptx/icons/robo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24" y="245516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0936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30936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Alexa, Google Assistant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006840" y="2103120"/>
            <a:ext cx="2651760" cy="164592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/>
        </p:spPr>
      </p:sp>
      <p:sp>
        <p:nvSpPr>
          <p:cNvPr id="17" name="Shape 13"/>
          <p:cNvSpPr/>
          <p:nvPr/>
        </p:nvSpPr>
        <p:spPr>
          <a:xfrm>
            <a:off x="9235440" y="2331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pptx/icons/search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8884" y="245516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897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918972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YouTube, Amazon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26480" y="4023360"/>
            <a:ext cx="2651760" cy="164592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/>
        </p:spPr>
      </p:sp>
      <p:sp>
        <p:nvSpPr>
          <p:cNvPr id="22" name="Shape 17"/>
          <p:cNvSpPr/>
          <p:nvPr/>
        </p:nvSpPr>
        <p:spPr>
          <a:xfrm>
            <a:off x="6355080" y="4251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pptx/icons/chi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524" y="437540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09360" y="4892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30936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payment systems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006840" y="4023360"/>
            <a:ext cx="2651760" cy="164592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/>
        </p:spPr>
      </p:sp>
      <p:sp>
        <p:nvSpPr>
          <p:cNvPr id="27" name="Shape 21"/>
          <p:cNvSpPr/>
          <p:nvPr/>
        </p:nvSpPr>
        <p:spPr>
          <a:xfrm>
            <a:off x="9235440" y="4251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4" descr="/home/claude/pptx/icons/languag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8884" y="4375404"/>
            <a:ext cx="301752" cy="30175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89720" y="4892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918972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automation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200400" cy="3200400"/>
          </a:xfrm>
          <a:prstGeom prst="ellipse">
            <a:avLst/>
          </a:prstGeom>
          <a:solidFill>
            <a:srgbClr val="EAF2FB"/>
          </a:solidFill>
          <a:ln w="19050">
            <a:solidFill>
              <a:srgbClr val="8EC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2167128"/>
            <a:ext cx="2148840" cy="2148840"/>
          </a:xfrm>
          <a:prstGeom prst="ellipse">
            <a:avLst/>
          </a:prstGeom>
          <a:solidFill>
            <a:srgbClr val="8ECAE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697480"/>
            <a:ext cx="1097280" cy="10972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26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749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(ML) is the branch of AI in which a system learns patterns directly from data — instead of being explicitly programmed with fixed rules.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600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26280" y="2057400"/>
            <a:ext cx="6766560" cy="1325880"/>
          </a:xfrm>
          <a:prstGeom prst="roundRect">
            <a:avLst>
              <a:gd name="adj" fmla="val 4138"/>
            </a:avLst>
          </a:prstGeom>
          <a:solidFill>
            <a:srgbClr val="0B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286000"/>
            <a:ext cx="502920" cy="502920"/>
          </a:xfrm>
          <a:prstGeom prst="ellipse">
            <a:avLst/>
          </a:prstGeom>
          <a:solidFill>
            <a:srgbClr val="12386B"/>
          </a:solidFill>
          <a:ln/>
        </p:spPr>
      </p:sp>
      <p:pic>
        <p:nvPicPr>
          <p:cNvPr id="14" name="Image 0" descr="/home/claude/pptx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037" y="2399157"/>
            <a:ext cx="276606" cy="27660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394960" y="2221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2606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examples, then predicts labels for new data.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144000" y="222199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0" y="2221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HERE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26280" y="3566160"/>
            <a:ext cx="6766560" cy="1325880"/>
          </a:xfrm>
          <a:prstGeom prst="roundRect">
            <a:avLst>
              <a:gd name="adj" fmla="val 4138"/>
            </a:avLst>
          </a:prstGeom>
          <a:solidFill>
            <a:srgbClr val="EAF2FB"/>
          </a:solidFill>
          <a:ln/>
        </p:spPr>
      </p:sp>
      <p:sp>
        <p:nvSpPr>
          <p:cNvPr id="20" name="Shape 17"/>
          <p:cNvSpPr/>
          <p:nvPr/>
        </p:nvSpPr>
        <p:spPr>
          <a:xfrm>
            <a:off x="4754880" y="3794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/home/claude/pptx/icons/lay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037" y="3907917"/>
            <a:ext cx="276606" cy="27660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394960" y="3730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5394960" y="4114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in data that has no labels at all.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526280" y="5074920"/>
            <a:ext cx="6766560" cy="1325880"/>
          </a:xfrm>
          <a:prstGeom prst="roundRect">
            <a:avLst>
              <a:gd name="adj" fmla="val 4138"/>
            </a:avLst>
          </a:prstGeom>
          <a:solidFill>
            <a:srgbClr val="EAF2FB"/>
          </a:solidFill>
          <a:ln/>
        </p:spPr>
      </p:sp>
      <p:sp>
        <p:nvSpPr>
          <p:cNvPr id="25" name="Shape 21"/>
          <p:cNvSpPr/>
          <p:nvPr/>
        </p:nvSpPr>
        <p:spPr>
          <a:xfrm>
            <a:off x="4754880" y="5303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2" descr="/home/claude/pptx/icons/cog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037" y="5416677"/>
            <a:ext cx="276606" cy="27660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394960" y="5239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450" dirty="0"/>
          </a:p>
        </p:txBody>
      </p:sp>
      <p:sp>
        <p:nvSpPr>
          <p:cNvPr id="28" name="Text 23"/>
          <p:cNvSpPr txBox="1"/>
          <p:nvPr/>
        </p:nvSpPr>
        <p:spPr>
          <a:xfrm>
            <a:off x="5394960" y="5623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trial and error, via rewards and penalties.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NLP? Key Vocabulary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19072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x/icons/langua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13" y="1914525"/>
            <a:ext cx="477774" cy="4777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60020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the branch of AI that enables computers to read, interpret, and extract meaning from human language — the kind of free, unstructured text found in a CV or a job description.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You Should Know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3703320"/>
            <a:ext cx="411480" cy="914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" y="3849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41788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variable used to make a prediction (e.g. skill overlap).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352044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EAF2FB"/>
          </a:solidFill>
          <a:ln/>
        </p:spPr>
      </p:sp>
      <p:sp>
        <p:nvSpPr>
          <p:cNvPr id="14" name="Shape 11"/>
          <p:cNvSpPr/>
          <p:nvPr/>
        </p:nvSpPr>
        <p:spPr>
          <a:xfrm>
            <a:off x="4544568" y="3703320"/>
            <a:ext cx="411480" cy="914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44568" y="3849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Target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544568" y="41788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the model is trained to predict.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38160" y="352044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EAF2FB"/>
          </a:solidFill>
          <a:ln/>
        </p:spPr>
      </p:sp>
      <p:sp>
        <p:nvSpPr>
          <p:cNvPr id="18" name="Shape 15"/>
          <p:cNvSpPr/>
          <p:nvPr/>
        </p:nvSpPr>
        <p:spPr>
          <a:xfrm>
            <a:off x="8339328" y="3703320"/>
            <a:ext cx="411480" cy="914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39328" y="3849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Test Data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339328" y="41788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model learns from vs. unseen data used to check it.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502920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EAF2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49808" y="5212080"/>
            <a:ext cx="411480" cy="914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49808" y="5358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56875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system that maps inputs to a predicted output.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43400" y="502920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EAF2FB"/>
          </a:solidFill>
          <a:ln/>
        </p:spPr>
      </p:sp>
      <p:sp>
        <p:nvSpPr>
          <p:cNvPr id="26" name="Shape 23"/>
          <p:cNvSpPr/>
          <p:nvPr/>
        </p:nvSpPr>
        <p:spPr>
          <a:xfrm>
            <a:off x="4544568" y="5212080"/>
            <a:ext cx="411480" cy="914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44568" y="5358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4544568" y="56875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numbers, weighting distinctive words higher.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138160" y="502920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EAF2FB"/>
          </a:solidFill>
          <a:ln/>
        </p:spPr>
      </p:sp>
      <p:sp>
        <p:nvSpPr>
          <p:cNvPr id="30" name="Shape 27"/>
          <p:cNvSpPr/>
          <p:nvPr/>
        </p:nvSpPr>
        <p:spPr>
          <a:xfrm>
            <a:off x="8339328" y="5212080"/>
            <a:ext cx="411480" cy="91440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339328" y="5358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8339328" y="56875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similar two text vectors are (0 to 1).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E2E5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474720"/>
            <a:ext cx="4572000" cy="4572000"/>
          </a:xfrm>
          <a:prstGeom prst="ellipse">
            <a:avLst/>
          </a:prstGeom>
          <a:solidFill>
            <a:srgbClr val="0E2E5C"/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417320"/>
            <a:ext cx="1463040" cy="1463040"/>
          </a:xfrm>
          <a:prstGeom prst="ellipse">
            <a:avLst/>
          </a:prstGeom>
          <a:solidFill>
            <a:srgbClr val="12386B"/>
          </a:solidFill>
          <a:ln/>
        </p:spPr>
      </p:sp>
      <p:pic>
        <p:nvPicPr>
          <p:cNvPr id="5" name="Image 0" descr="/home/claude/pptx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746504"/>
            <a:ext cx="804672" cy="8046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154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0" y="35204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0" y="4343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candidate data to an explainable screening recommendation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EAF2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x/icons/war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" y="19831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may receive hundreds of CVs for a single job opening. Reading and comparing each one manually against the job requirements is slow, tedious, and prone to inconsistency between reviewers.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4348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NLP + ML system that automatically compares a candidate CV with a job description and produces an explainable match assessment.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545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1828800"/>
            <a:ext cx="685800" cy="685800"/>
          </a:xfrm>
          <a:prstGeom prst="ellipse">
            <a:avLst/>
          </a:prstGeom>
          <a:solidFill>
            <a:srgbClr val="12386B"/>
          </a:solidFill>
          <a:ln/>
        </p:spPr>
      </p:sp>
      <p:pic>
        <p:nvPicPr>
          <p:cNvPr id="12" name="Image 1" descr="/home/claude/pptx/icons/che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9659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8368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Predicts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583680" y="310896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58000" y="29535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 recommendation: Interview, Manual Review, or Not Qualified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83680" y="379476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858000" y="36393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required skills matched — and which are missing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83680" y="448056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858000" y="43251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experience-relevance rating (HIGH / MEDIUM / LOW)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583680" y="516636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858000" y="50109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class-probability breakdown for transparency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at a Glance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Candidate-Job 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64592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EAF2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64992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/ Columns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164592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EAF2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81344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97696" y="164592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EA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97696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997696" y="2560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Job Roles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Train / Validation / Test Split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53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(70%)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397764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4340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4553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(10%)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38160" y="397764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02304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3816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553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Honouring the dataset's own predefined split (rather than a fresh random split) keeps evaluation fair and reproducible.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8521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EAF2F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5852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columns used: resume_summary · candidate_skills · experience_years · education · job_description · required_skills · preferred_skills · minimum_experience_years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NLP + Machine Learning Pipeline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technical concept of the project — how raw CV and job-description text becomes a recommendation.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481328" cy="1920240"/>
          </a:xfrm>
          <a:prstGeom prst="roundRect">
            <a:avLst>
              <a:gd name="adj" fmla="val 3704"/>
            </a:avLst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267712"/>
            <a:ext cx="493776" cy="493776"/>
          </a:xfrm>
          <a:prstGeom prst="ellipse">
            <a:avLst/>
          </a:prstGeom>
          <a:solidFill>
            <a:srgbClr val="1C3A66"/>
          </a:solidFill>
          <a:ln/>
        </p:spPr>
      </p:sp>
      <p:pic>
        <p:nvPicPr>
          <p:cNvPr id="7" name="Image 0" descr="/home/claude/pptx/icons/fi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" y="2366467"/>
            <a:ext cx="296266" cy="29626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2648" y="28803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+ Job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12648" y="34747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&amp; structured input</a:t>
            </a:r>
            <a:endParaRPr lang="en-US" sz="850" dirty="0"/>
          </a:p>
        </p:txBody>
      </p:sp>
      <p:pic>
        <p:nvPicPr>
          <p:cNvPr id="10" name="Image 1" descr="/home/claude/pptx/icons/arrow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256" y="288036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31136" y="2103120"/>
            <a:ext cx="1481328" cy="1920240"/>
          </a:xfrm>
          <a:prstGeom prst="roundRect">
            <a:avLst>
              <a:gd name="adj" fmla="val 3704"/>
            </a:avLst>
          </a:prstGeom>
          <a:solidFill>
            <a:srgbClr val="023047"/>
          </a:solidFill>
          <a:ln/>
        </p:spPr>
      </p:sp>
      <p:sp>
        <p:nvSpPr>
          <p:cNvPr id="12" name="Shape 8"/>
          <p:cNvSpPr/>
          <p:nvPr/>
        </p:nvSpPr>
        <p:spPr>
          <a:xfrm>
            <a:off x="2724912" y="2267712"/>
            <a:ext cx="493776" cy="493776"/>
          </a:xfrm>
          <a:prstGeom prst="ellipse">
            <a:avLst/>
          </a:prstGeom>
          <a:solidFill>
            <a:srgbClr val="1C3A66"/>
          </a:solidFill>
          <a:ln/>
        </p:spPr>
      </p:sp>
      <p:pic>
        <p:nvPicPr>
          <p:cNvPr id="13" name="Image 2" descr="/home/claude/pptx/icons/cod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3667" y="2366467"/>
            <a:ext cx="296266" cy="2962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295144" y="28803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2295144" y="34747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clean, tokenize</a:t>
            </a:r>
            <a:endParaRPr lang="en-US" sz="850" dirty="0"/>
          </a:p>
        </p:txBody>
      </p:sp>
      <p:pic>
        <p:nvPicPr>
          <p:cNvPr id="16" name="Image 3" descr="/home/claude/pptx/icons/arrow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880360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913632" y="2103120"/>
            <a:ext cx="1481328" cy="1920240"/>
          </a:xfrm>
          <a:prstGeom prst="roundRect">
            <a:avLst>
              <a:gd name="adj" fmla="val 3704"/>
            </a:avLst>
          </a:prstGeom>
          <a:solidFill>
            <a:srgbClr val="0B2545"/>
          </a:solidFill>
          <a:ln/>
        </p:spPr>
      </p:sp>
      <p:sp>
        <p:nvSpPr>
          <p:cNvPr id="18" name="Shape 12"/>
          <p:cNvSpPr/>
          <p:nvPr/>
        </p:nvSpPr>
        <p:spPr>
          <a:xfrm>
            <a:off x="4407408" y="2267712"/>
            <a:ext cx="493776" cy="493776"/>
          </a:xfrm>
          <a:prstGeom prst="ellipse">
            <a:avLst/>
          </a:prstGeom>
          <a:solidFill>
            <a:srgbClr val="1C3A66"/>
          </a:solidFill>
          <a:ln/>
        </p:spPr>
      </p:sp>
      <p:pic>
        <p:nvPicPr>
          <p:cNvPr id="19" name="Image 4" descr="/home/claude/pptx/icons/calc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6163" y="2366467"/>
            <a:ext cx="296266" cy="29626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977640" y="28803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3977640" y="34747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numeric vectors</a:t>
            </a:r>
            <a:endParaRPr lang="en-US" sz="850" dirty="0"/>
          </a:p>
        </p:txBody>
      </p:sp>
      <p:pic>
        <p:nvPicPr>
          <p:cNvPr id="22" name="Image 5" descr="/home/claude/pptx/icons/arrow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880360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596128" y="2103120"/>
            <a:ext cx="1481328" cy="1920240"/>
          </a:xfrm>
          <a:prstGeom prst="roundRect">
            <a:avLst>
              <a:gd name="adj" fmla="val 3704"/>
            </a:avLst>
          </a:prstGeom>
          <a:solidFill>
            <a:srgbClr val="023047"/>
          </a:solidFill>
          <a:ln/>
        </p:spPr>
      </p:sp>
      <p:sp>
        <p:nvSpPr>
          <p:cNvPr id="24" name="Shape 16"/>
          <p:cNvSpPr/>
          <p:nvPr/>
        </p:nvSpPr>
        <p:spPr>
          <a:xfrm>
            <a:off x="6089904" y="2267712"/>
            <a:ext cx="493776" cy="493776"/>
          </a:xfrm>
          <a:prstGeom prst="ellipse">
            <a:avLst/>
          </a:prstGeom>
          <a:solidFill>
            <a:srgbClr val="1C3A66"/>
          </a:solidFill>
          <a:ln/>
        </p:spPr>
      </p:sp>
      <p:pic>
        <p:nvPicPr>
          <p:cNvPr id="25" name="Image 6" descr="/home/claude/pptx/icons/search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8659" y="2366467"/>
            <a:ext cx="296266" cy="29626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660136" y="28803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Skill Matching</a:t>
            </a:r>
            <a:endParaRPr lang="en-US" sz="1050" dirty="0"/>
          </a:p>
        </p:txBody>
      </p:sp>
      <p:sp>
        <p:nvSpPr>
          <p:cNvPr id="27" name="Text 18"/>
          <p:cNvSpPr txBox="1"/>
          <p:nvPr/>
        </p:nvSpPr>
        <p:spPr>
          <a:xfrm>
            <a:off x="5660136" y="34747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CV vs job</a:t>
            </a:r>
            <a:endParaRPr lang="en-US" sz="850" dirty="0"/>
          </a:p>
        </p:txBody>
      </p:sp>
      <p:pic>
        <p:nvPicPr>
          <p:cNvPr id="28" name="Image 7" descr="/home/claude/pptx/icons/arrow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880360"/>
            <a:ext cx="164592" cy="16459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278624" y="2103120"/>
            <a:ext cx="1481328" cy="1920240"/>
          </a:xfrm>
          <a:prstGeom prst="roundRect">
            <a:avLst>
              <a:gd name="adj" fmla="val 3704"/>
            </a:avLst>
          </a:prstGeom>
          <a:solidFill>
            <a:srgbClr val="0B2545"/>
          </a:solidFill>
          <a:ln/>
        </p:spPr>
      </p:sp>
      <p:sp>
        <p:nvSpPr>
          <p:cNvPr id="30" name="Shape 20"/>
          <p:cNvSpPr/>
          <p:nvPr/>
        </p:nvSpPr>
        <p:spPr>
          <a:xfrm>
            <a:off x="7772400" y="2267712"/>
            <a:ext cx="493776" cy="493776"/>
          </a:xfrm>
          <a:prstGeom prst="ellipse">
            <a:avLst/>
          </a:prstGeom>
          <a:solidFill>
            <a:srgbClr val="1C3A66"/>
          </a:solidFill>
          <a:ln/>
        </p:spPr>
      </p:sp>
      <p:pic>
        <p:nvPicPr>
          <p:cNvPr id="31" name="Image 8" descr="/home/claude/pptx/icons/layers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1155" y="2366467"/>
            <a:ext cx="296266" cy="29626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342632" y="28803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33" name="Text 22"/>
          <p:cNvSpPr txBox="1"/>
          <p:nvPr/>
        </p:nvSpPr>
        <p:spPr>
          <a:xfrm>
            <a:off x="7342632" y="34747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engineered features</a:t>
            </a:r>
            <a:endParaRPr lang="en-US" sz="850" dirty="0"/>
          </a:p>
        </p:txBody>
      </p:sp>
      <p:pic>
        <p:nvPicPr>
          <p:cNvPr id="34" name="Image 9" descr="/home/claude/pptx/icons/arrow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880360"/>
            <a:ext cx="164592" cy="164592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8961120" y="2103120"/>
            <a:ext cx="1481328" cy="1920240"/>
          </a:xfrm>
          <a:prstGeom prst="roundRect">
            <a:avLst>
              <a:gd name="adj" fmla="val 3704"/>
            </a:avLst>
          </a:prstGeom>
          <a:solidFill>
            <a:srgbClr val="023047"/>
          </a:solidFill>
          <a:ln/>
        </p:spPr>
      </p:sp>
      <p:sp>
        <p:nvSpPr>
          <p:cNvPr id="36" name="Shape 24"/>
          <p:cNvSpPr/>
          <p:nvPr/>
        </p:nvSpPr>
        <p:spPr>
          <a:xfrm>
            <a:off x="9454896" y="2267712"/>
            <a:ext cx="493776" cy="493776"/>
          </a:xfrm>
          <a:prstGeom prst="ellipse">
            <a:avLst/>
          </a:prstGeom>
          <a:solidFill>
            <a:srgbClr val="1C3A66"/>
          </a:solidFill>
          <a:ln/>
        </p:spPr>
      </p:sp>
      <p:pic>
        <p:nvPicPr>
          <p:cNvPr id="37" name="Image 10" descr="/home/claude/pptx/icons/chip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3651" y="2366467"/>
            <a:ext cx="296266" cy="29626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025128" y="28803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39" name="Text 26"/>
          <p:cNvSpPr txBox="1"/>
          <p:nvPr/>
        </p:nvSpPr>
        <p:spPr>
          <a:xfrm>
            <a:off x="9025128" y="34747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7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850" dirty="0"/>
          </a:p>
        </p:txBody>
      </p:sp>
      <p:pic>
        <p:nvPicPr>
          <p:cNvPr id="40" name="Image 11" descr="/home/claude/pptx/icons/arrow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36" y="2880360"/>
            <a:ext cx="164592" cy="164592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10643616" y="2103120"/>
            <a:ext cx="1481328" cy="1920240"/>
          </a:xfrm>
          <a:prstGeom prst="roundRect">
            <a:avLst>
              <a:gd name="adj" fmla="val 3704"/>
            </a:avLst>
          </a:prstGeom>
          <a:solidFill>
            <a:srgbClr val="00B4D8"/>
          </a:solidFill>
          <a:ln/>
        </p:spPr>
      </p:sp>
      <p:sp>
        <p:nvSpPr>
          <p:cNvPr id="42" name="Shape 28"/>
          <p:cNvSpPr/>
          <p:nvPr/>
        </p:nvSpPr>
        <p:spPr>
          <a:xfrm>
            <a:off x="11137392" y="2267712"/>
            <a:ext cx="493776" cy="493776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43" name="Image 12" descr="/home/claude/pptx/icons/check_cy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6147" y="2366467"/>
            <a:ext cx="296266" cy="296266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10707624" y="28803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45" name="Text 30"/>
          <p:cNvSpPr txBox="1"/>
          <p:nvPr/>
        </p:nvSpPr>
        <p:spPr>
          <a:xfrm>
            <a:off x="10707624" y="34747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/ Review / Not Qualified</a:t>
            </a:r>
            <a:endParaRPr lang="en-US" sz="850" dirty="0"/>
          </a:p>
        </p:txBody>
      </p:sp>
      <p:sp>
        <p:nvSpPr>
          <p:cNvPr id="46" name="Shape 31"/>
          <p:cNvSpPr/>
          <p:nvPr/>
        </p:nvSpPr>
        <p:spPr>
          <a:xfrm>
            <a:off x="548640" y="4343400"/>
            <a:ext cx="11064240" cy="192024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/>
        </p:spPr>
      </p:sp>
      <p:sp>
        <p:nvSpPr>
          <p:cNvPr id="47" name="Text 32"/>
          <p:cNvSpPr txBox="1"/>
          <p:nvPr/>
        </p:nvSpPr>
        <p:spPr>
          <a:xfrm>
            <a:off x="822960" y="4507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&amp; Cosine Similarity, in plain terms</a:t>
            </a:r>
            <a:endParaRPr lang="en-US" sz="1450" dirty="0"/>
          </a:p>
        </p:txBody>
      </p:sp>
      <p:sp>
        <p:nvSpPr>
          <p:cNvPr id="48" name="Text 33"/>
          <p:cNvSpPr txBox="1"/>
          <p:nvPr/>
        </p:nvSpPr>
        <p:spPr>
          <a:xfrm>
            <a:off x="822960" y="489204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</a:t>
            </a:r>
            <a:r>
              <a:rPr lang="en-US" sz="12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text into numbers, weighting distinctive words (e.g. “Django”) higher than common ones. </a:t>
            </a:r>
            <a:r>
              <a:rPr lang="en-US" sz="12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</a:t>
            </a:r>
            <a:r>
              <a:rPr lang="en-US" sz="12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measures how alike two of those number-vectors are, from 0 (different) to 1 (identical). Average resume ↔ job-description similarity across all 10,000 records: </a:t>
            </a: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r>
              <a:rPr lang="en-US" sz="12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(range 0.03 – 0.77).</a:t>
            </a:r>
            <a:endParaRPr lang="en-US" sz="1250" dirty="0"/>
          </a:p>
        </p:txBody>
      </p:sp>
      <p:sp>
        <p:nvSpPr>
          <p:cNvPr id="49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50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What the Model Learns From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pptx/icons/lay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0185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Overlap Features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Required/preferred skill coverage, number of skills matched &amp; missing — built from scratch with set logic, not the dataset's own pre-computed columns.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54864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486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600200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EAF2FB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pptx/icons/langua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738" y="201853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772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Similarity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3832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 between the candidate's resume summary and the job description.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17720" y="54864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17720" y="5486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context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38160" y="1600200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EAF2FB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248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/home/claude/pptx/icons/calc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6498" y="2018538"/>
            <a:ext cx="352044" cy="3520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1248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Gap Features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33832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experience_gap (years above/below minimum) and salary_gap (expectation vs. budget) — realistic recruiting signals.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412480" y="54864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412480" y="5486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nuance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Training: Comparing Two Algorithms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617720"/>
          </a:xfrm>
          <a:prstGeom prst="roundRect">
            <a:avLst>
              <a:gd name="adj" fmla="val 1188"/>
            </a:avLst>
          </a:prstGeom>
          <a:solidFill>
            <a:srgbClr val="EAF2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pptx/icons/calc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" y="20288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99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29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linear model — fast, interpretable, and a good first benchmark. Requires feature scaling (StandardScaler) since it's distance/weight sensitive.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663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440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394960" cy="4617720"/>
          </a:xfrm>
          <a:prstGeom prst="roundRect">
            <a:avLst>
              <a:gd name="adj" fmla="val 1188"/>
            </a:avLst>
          </a:prstGeom>
          <a:solidFill>
            <a:srgbClr val="0B2545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1874520"/>
            <a:ext cx="685800" cy="6858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4" name="Image 1" descr="/home/claude/pptx/icons/chi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985" y="2028825"/>
            <a:ext cx="377190" cy="37719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012680" y="1783080"/>
            <a:ext cx="1508760" cy="411480"/>
          </a:xfrm>
          <a:prstGeom prst="roundRect">
            <a:avLst>
              <a:gd name="adj" fmla="val 48889"/>
            </a:avLst>
          </a:prstGeom>
          <a:solidFill>
            <a:srgbClr val="FFB70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012680" y="1783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2999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429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200 decision trees to capture non-linear patterns in the data. Does not require feature scaling. class_weight='balanced' used on both models to handle mild class imbalance.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4663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40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5440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63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0230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463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463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41732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1463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1463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(Manual Review)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EA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697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300" dirty="0"/>
          </a:p>
        </p:txBody>
      </p:sp>
      <p:pic>
        <p:nvPicPr>
          <p:cNvPr id="15" name="Image 0" descr="/home/claude/pptx/confusion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861" y="3063240"/>
            <a:ext cx="3357958" cy="28346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63640" y="256032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EAF2F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4652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Driving Predictions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400800" y="306324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User Interface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60020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160020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CV SCREENING SYSTEM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 Match Confidence: 90%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Recommendation: MANUAL REVIEW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Matched Required Skills: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django  ✓ postgresql  ✓ react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git     ✓ python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Required Skills: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✗ rest api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 Relevance: HIGH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Probabilities: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Interview: 7.1%   Manual Review: 90.4%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7EE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 Qualified: 2.6%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0B2545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60020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0" descr="/home/claude/pptx/icons/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172364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17804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78040" y="1965960"/>
            <a:ext cx="4251960" cy="685800"/>
          </a:xfrm>
          <a:prstGeom prst="roundRect">
            <a:avLst>
              <a:gd name="adj" fmla="val 13333"/>
            </a:avLst>
          </a:prstGeom>
          <a:solidFill>
            <a:srgbClr val="12386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269480" y="19659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https://gab-hirely.streamlit.app/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63640" y="301752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EAF2FB"/>
          </a:solidFill>
          <a:ln w="19050">
            <a:solidFill>
              <a:srgbClr val="8ECAE6"/>
            </a:solidFill>
            <a:prstDash val="dash"/>
          </a:ln>
        </p:spPr>
      </p:sp>
      <p:pic>
        <p:nvPicPr>
          <p:cNvPr id="16" name="Image 1" descr="/home/claude/pptx/icons/deskto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54330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37960" y="41193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Screenshot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29400" y="4411980"/>
            <a:ext cx="46634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deployed Streamlit app — input form or result output.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assistive tool, never an autonomous decision-maker.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2386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21992"/>
            <a:ext cx="594360" cy="594360"/>
          </a:xfrm>
          <a:prstGeom prst="ellipse">
            <a:avLst/>
          </a:prstGeom>
          <a:solidFill>
            <a:srgbClr val="1C4A82"/>
          </a:solidFill>
          <a:ln/>
        </p:spPr>
      </p:sp>
      <p:pic>
        <p:nvPicPr>
          <p:cNvPr id="7" name="Image 0" descr="/home/claude/pptx/icons/ethic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2355723"/>
            <a:ext cx="326898" cy="3268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221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Assistive, Not Decisive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recruiter judgement — it never makes the final hiring decision on its own.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2386B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221992"/>
            <a:ext cx="594360" cy="594360"/>
          </a:xfrm>
          <a:prstGeom prst="ellipse">
            <a:avLst/>
          </a:prstGeom>
          <a:solidFill>
            <a:srgbClr val="1C4A82"/>
          </a:solidFill>
          <a:ln/>
        </p:spPr>
      </p:sp>
      <p:pic>
        <p:nvPicPr>
          <p:cNvPr id="12" name="Image 1" descr="/home/claude/pptx/icons/war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251" y="2355723"/>
            <a:ext cx="326898" cy="3268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2221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Auto-Rejection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880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is never rejected solely because the model produced a low score.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2386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370832"/>
            <a:ext cx="594360" cy="594360"/>
          </a:xfrm>
          <a:prstGeom prst="ellipse">
            <a:avLst/>
          </a:prstGeom>
          <a:solidFill>
            <a:srgbClr val="1C4A82"/>
          </a:solidFill>
          <a:ln/>
        </p:spPr>
      </p:sp>
      <p:pic>
        <p:nvPicPr>
          <p:cNvPr id="17" name="Image 2" descr="/home/claude/pptx/icons/userti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91" y="4504563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4370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Required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“Manual Review” cases are explicitly routed back to a human reviewer.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411480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12386B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370832"/>
            <a:ext cx="594360" cy="594360"/>
          </a:xfrm>
          <a:prstGeom prst="ellipse">
            <a:avLst/>
          </a:prstGeom>
          <a:solidFill>
            <a:srgbClr val="1C4A82"/>
          </a:solidFill>
          <a:ln/>
        </p:spPr>
      </p:sp>
      <p:pic>
        <p:nvPicPr>
          <p:cNvPr id="22" name="Image 3" descr="/home/claude/pptx/icons/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251" y="4504563"/>
            <a:ext cx="326898" cy="32689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78040" y="4370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Bias-Prone Features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6446520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other high-risk demographic-proxy fields were deliberately excluded from the model.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&amp; CANDIDATE MATCHING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114800"/>
            <a:ext cx="5029200" cy="5029200"/>
          </a:xfrm>
          <a:prstGeom prst="ellipse">
            <a:avLst/>
          </a:prstGeom>
          <a:solidFill>
            <a:srgbClr val="0E2E5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828800"/>
            <a:ext cx="4572000" cy="4572000"/>
          </a:xfrm>
          <a:prstGeom prst="ellipse">
            <a:avLst/>
          </a:prstGeom>
          <a:solidFill>
            <a:srgbClr val="0E2E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CV text to an explainable, ethically-framed screening recommendation — built with NLP, TF-IDF, cosine similarity, and a Random Forest classifier achieving 96.5% test accuracy.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238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76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587752"/>
            <a:ext cx="73152" cy="7315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4505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— real CVs are messier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136392"/>
            <a:ext cx="73152" cy="7315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9992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reflects closeness to the label rule, not guaranteed real-world performance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685032"/>
            <a:ext cx="73152" cy="7315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5478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skills (no “ML” = “Machine Learning”)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01168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238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176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258775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24505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 (e.g. Sentence-BERT) for synonym matching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13639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29992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PDF/Word CV parsing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685032"/>
            <a:ext cx="73152" cy="7315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35478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from recruiter overrides to retrain the model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00B4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526280"/>
            <a:ext cx="10561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Live App:  </a:t>
            </a: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https://gab-hirely.streamlit.app/    </a:t>
            </a: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Source Code</a:t>
            </a:r>
            <a:r>
              <a:rPr lang="en-US" sz="1300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30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https://github.com/GabrielBig-G/Hirely.git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0" y="58064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GABRIEL PETER  •  23/SC/CO/008  •  Department of Computer Science, University of Uyo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V Screening Theme">
  <a:themeElements>
    <a:clrScheme name="AI CV Screening Theme">
      <a:dk1>
        <a:srgbClr val="11182B"/>
      </a:dk1>
      <a:lt1>
        <a:srgbClr val="FFFFFF"/>
      </a:lt1>
      <a:dk2>
        <a:srgbClr val="0B2545"/>
      </a:dk2>
      <a:lt2>
        <a:srgbClr val="EAF2FB"/>
      </a:lt2>
      <a:accent1>
        <a:srgbClr val="00B4D8"/>
      </a:accent1>
      <a:accent2>
        <a:srgbClr val="0B2545"/>
      </a:accent2>
      <a:accent3>
        <a:srgbClr val="FFB703"/>
      </a:accent3>
      <a:accent4>
        <a:srgbClr val="2EC4B6"/>
      </a:accent4>
      <a:accent5>
        <a:srgbClr val="8ECAE6"/>
      </a:accent5>
      <a:accent6>
        <a:srgbClr val="023047"/>
      </a:accent6>
      <a:hlink>
        <a:srgbClr val="00B4D8"/>
      </a:hlink>
      <a:folHlink>
        <a:srgbClr val="8ECAE6"/>
      </a:folHlink>
    </a:clrScheme>
    <a:fontScheme name="AI CV Screening Them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1497</Words>
  <Application>Microsoft Office PowerPoint</Application>
  <PresentationFormat>Widescreen</PresentationFormat>
  <Paragraphs>246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AI CV Screening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Uyo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CV Screening and Candidate Matching System</dc:title>
  <dc:subject>PptxGenJS Presentation</dc:subject>
  <dc:creator>Student</dc:creator>
  <cp:lastModifiedBy>Gabriel Patrick</cp:lastModifiedBy>
  <cp:revision>2</cp:revision>
  <dcterms:created xsi:type="dcterms:W3CDTF">2026-10-06T11:48:14Z</dcterms:created>
  <dcterms:modified xsi:type="dcterms:W3CDTF">2026-10-06T12:09:53Z</dcterms:modified>
</cp:coreProperties>
</file>